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914400" y="0"/>
            <a:ext cx="3200400" cy="6858000"/>
          </a:xfrm>
          <a:prstGeom prst="rtTriangl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10241280" y="-182880"/>
            <a:ext cx="3200400" cy="7223760"/>
          </a:xfrm>
          <a:prstGeom prst="rtTriangl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4000">
                <a:solidFill>
                  <a:srgbClr val="FF8C00"/>
                </a:solidFill>
              </a:rPr>
              <a:t>Alimentos que deben consumirse para sentirse feliz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2ECC71"/>
                </a:solidFill>
              </a:rPr>
              <a:t>Guía práctica basada en evidencia • Autor: David21772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217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F5F5F5"/>
                </a:solidFill>
              </a:defRPr>
            </a:pPr>
            <a:r>
              <a:t>La alimentación influye en neurotransmisores, inflamación, energía y microbiota, factores clave para el estado de ánimo.</a:t>
            </a:r>
          </a:p>
          <a:p>
            <a:pPr>
              <a:spcAft>
                <a:spcPts val="800"/>
              </a:spcAft>
              <a:defRPr sz="2100">
                <a:solidFill>
                  <a:srgbClr val="F5F5F5"/>
                </a:solidFill>
              </a:defRPr>
            </a:pPr>
            <a:r>
              <a:t>Incluir ciertos alimentos de forma regular puede favorecer la producción de serotonina y dopamina, y reducir el estrés oxidativo.</a:t>
            </a:r>
          </a:p>
          <a:p>
            <a:pPr>
              <a:spcAft>
                <a:spcPts val="800"/>
              </a:spcAft>
              <a:defRPr sz="2100">
                <a:solidFill>
                  <a:srgbClr val="F5F5F5"/>
                </a:solidFill>
              </a:defRPr>
            </a:pPr>
            <a:r>
              <a:t>Objetivo: propuestas concretas, porciones sugeridas y consejos prácticos para el día a día.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828800"/>
            <a:ext cx="4023360" cy="3291840"/>
          </a:xfrm>
          <a:prstGeom prst="rect">
            <a:avLst/>
          </a:prstGeom>
          <a:solidFill>
            <a:srgbClr val="5A6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F5F5F5"/>
                </a:solidFill>
              </a:rPr>
              <a:t>Imagen no disponible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914400" y="0"/>
            <a:ext cx="3200400" cy="6858000"/>
          </a:xfrm>
          <a:prstGeom prst="rtTriangl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10241280" y="-182880"/>
            <a:ext cx="3200400" cy="7223760"/>
          </a:xfrm>
          <a:prstGeom prst="rtTriangl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4000">
                <a:solidFill>
                  <a:srgbClr val="FF8C00"/>
                </a:solidFill>
              </a:rPr>
              <a:t>Chocolate negro (≥ 70% cacao)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2ECC71"/>
                </a:solidFill>
              </a:rPr>
              <a:t>Polifenoles, magnesio y precursores de serotonina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217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F5F5F5"/>
                </a:solidFill>
              </a:defRPr>
            </a:pPr>
            <a:r>
              <a:t>El cacao aporta flavonoides que mejoran la vasodilatación y podrían modular la respuesta al estrés.</a:t>
            </a:r>
          </a:p>
          <a:p>
            <a:pPr>
              <a:spcAft>
                <a:spcPts val="800"/>
              </a:spcAft>
              <a:defRPr sz="2100">
                <a:solidFill>
                  <a:srgbClr val="F5F5F5"/>
                </a:solidFill>
              </a:defRPr>
            </a:pPr>
            <a:r>
              <a:t>Contiene triptófano y feniletilamina, asociados a sensación de bienestar (consumo moderado).</a:t>
            </a:r>
          </a:p>
          <a:p>
            <a:pPr>
              <a:spcAft>
                <a:spcPts val="800"/>
              </a:spcAft>
              <a:defRPr sz="2100">
                <a:solidFill>
                  <a:srgbClr val="F5F5F5"/>
                </a:solidFill>
              </a:defRPr>
            </a:pPr>
            <a:r>
              <a:t>Sugerencia: 1–2 onzas (30–40 g) al día, eligiendo opciones con poco azúcar y sin rellenos.</a:t>
            </a:r>
          </a:p>
          <a:p>
            <a:pPr>
              <a:spcAft>
                <a:spcPts val="800"/>
              </a:spcAft>
              <a:defRPr sz="2100">
                <a:solidFill>
                  <a:srgbClr val="F5F5F5"/>
                </a:solidFill>
              </a:defRPr>
            </a:pPr>
            <a:r>
              <a:t>Evitar versiones ultraprocesadas con grasas añadidas o jarabes.</a:t>
            </a:r>
          </a:p>
        </p:txBody>
      </p:sp>
      <p:pic>
        <p:nvPicPr>
          <p:cNvPr id="7" name="Picture 6" descr="Chocolate__28blue_background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0"/>
            <a:ext cx="4023360" cy="36210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914400" y="0"/>
            <a:ext cx="3200400" cy="6858000"/>
          </a:xfrm>
          <a:prstGeom prst="rtTriangl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10241280" y="-182880"/>
            <a:ext cx="3200400" cy="7223760"/>
          </a:xfrm>
          <a:prstGeom prst="rtTriangl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4000">
                <a:solidFill>
                  <a:srgbClr val="FF8C00"/>
                </a:solidFill>
              </a:rPr>
              <a:t>Pescados grasos (omega‑3)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2ECC71"/>
                </a:solidFill>
              </a:rPr>
              <a:t>Salmón, sardina, caballa, atún claro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217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F5F5F5"/>
                </a:solidFill>
              </a:defRPr>
            </a:pPr>
            <a:r>
              <a:t>Los ácidos grasos EPA y DHA participan en la estructura neuronal y la señalización sináptica.</a:t>
            </a:r>
          </a:p>
          <a:p>
            <a:pPr>
              <a:spcAft>
                <a:spcPts val="800"/>
              </a:spcAft>
              <a:defRPr sz="2100">
                <a:solidFill>
                  <a:srgbClr val="F5F5F5"/>
                </a:solidFill>
              </a:defRPr>
            </a:pPr>
            <a:r>
              <a:t>Un mejor balance omega‑3/omega‑6 se asocia a menor inflamación sistémica.</a:t>
            </a:r>
          </a:p>
          <a:p>
            <a:pPr>
              <a:spcAft>
                <a:spcPts val="800"/>
              </a:spcAft>
              <a:defRPr sz="2100">
                <a:solidFill>
                  <a:srgbClr val="F5F5F5"/>
                </a:solidFill>
              </a:defRPr>
            </a:pPr>
            <a:r>
              <a:t>Sugerencia: 2–3 porciones por semana; alternativa vegetal: chía, linaza y nueces (ALA).</a:t>
            </a:r>
          </a:p>
          <a:p>
            <a:pPr>
              <a:spcAft>
                <a:spcPts val="800"/>
              </a:spcAft>
              <a:defRPr sz="2100">
                <a:solidFill>
                  <a:srgbClr val="F5F5F5"/>
                </a:solidFill>
              </a:defRPr>
            </a:pPr>
            <a:r>
              <a:t>Preferir preparaciones al horno o a la plancha para conservar nutrientes.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828800"/>
            <a:ext cx="4023360" cy="3291840"/>
          </a:xfrm>
          <a:prstGeom prst="rect">
            <a:avLst/>
          </a:prstGeom>
          <a:solidFill>
            <a:srgbClr val="5A6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F5F5F5"/>
                </a:solidFill>
              </a:rPr>
              <a:t>Imagen no disponible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914400" y="0"/>
            <a:ext cx="3200400" cy="6858000"/>
          </a:xfrm>
          <a:prstGeom prst="rtTriangl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10241280" y="-182880"/>
            <a:ext cx="3200400" cy="7223760"/>
          </a:xfrm>
          <a:prstGeom prst="rtTriangl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4000">
                <a:solidFill>
                  <a:srgbClr val="FF8C00"/>
                </a:solidFill>
              </a:rPr>
              <a:t>Fermentados y probióticos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2ECC71"/>
                </a:solidFill>
              </a:rPr>
              <a:t>Eje intestino‑cerebro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217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F5F5F5"/>
                </a:solidFill>
              </a:defRPr>
            </a:pPr>
            <a:r>
              <a:t>Yogur, kéfir, kimchi y chucrut aportan microorganismos beneficiosos para la microbiota.</a:t>
            </a:r>
          </a:p>
          <a:p>
            <a:pPr>
              <a:spcAft>
                <a:spcPts val="800"/>
              </a:spcAft>
              <a:defRPr sz="2100">
                <a:solidFill>
                  <a:srgbClr val="F5F5F5"/>
                </a:solidFill>
              </a:defRPr>
            </a:pPr>
            <a:r>
              <a:t>Una microbiota diversa produce metabolitos (ej. ácidos grasos de cadena corta) con efectos neuromoduladores.</a:t>
            </a:r>
          </a:p>
          <a:p>
            <a:pPr>
              <a:spcAft>
                <a:spcPts val="800"/>
              </a:spcAft>
              <a:defRPr sz="2100">
                <a:solidFill>
                  <a:srgbClr val="F5F5F5"/>
                </a:solidFill>
              </a:defRPr>
            </a:pPr>
            <a:r>
              <a:t>Evidencia emergente: menor ansiedad y mejor manejo del estrés cuando se combinan con fibra prebiótica.</a:t>
            </a:r>
          </a:p>
          <a:p>
            <a:pPr>
              <a:spcAft>
                <a:spcPts val="800"/>
              </a:spcAft>
              <a:defRPr sz="2100">
                <a:solidFill>
                  <a:srgbClr val="F5F5F5"/>
                </a:solidFill>
              </a:defRPr>
            </a:pPr>
            <a:r>
              <a:t>Sugerencia: 1 ración diaria; vigilar azúcares añadidos en yogures saborizados.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828800"/>
            <a:ext cx="4023360" cy="3291840"/>
          </a:xfrm>
          <a:prstGeom prst="rect">
            <a:avLst/>
          </a:prstGeom>
          <a:solidFill>
            <a:srgbClr val="5A6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F5F5F5"/>
                </a:solidFill>
              </a:rPr>
              <a:t>Imagen no disponible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914400" y="0"/>
            <a:ext cx="3200400" cy="6858000"/>
          </a:xfrm>
          <a:prstGeom prst="rtTriangl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10241280" y="-182880"/>
            <a:ext cx="3200400" cy="7223760"/>
          </a:xfrm>
          <a:prstGeom prst="rtTriangl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4000">
                <a:solidFill>
                  <a:srgbClr val="FF8C00"/>
                </a:solidFill>
              </a:rPr>
              <a:t>Frutas y verduras coloridas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2ECC71"/>
                </a:solidFill>
              </a:rPr>
              <a:t>Antioxidantes, folato y vitamina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217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F5F5F5"/>
                </a:solidFill>
              </a:defRPr>
            </a:pPr>
            <a:r>
              <a:t>Bayas, cítricos, espinaca y brócoli ayudan a combatir el estrés oxidativo y la inflamación.</a:t>
            </a:r>
          </a:p>
          <a:p>
            <a:pPr>
              <a:spcAft>
                <a:spcPts val="800"/>
              </a:spcAft>
              <a:defRPr sz="2100">
                <a:solidFill>
                  <a:srgbClr val="F5F5F5"/>
                </a:solidFill>
              </a:defRPr>
            </a:pPr>
            <a:r>
              <a:t>El folato se asocia con mejor función cognitiva y síntesis de neurotransmisores.</a:t>
            </a:r>
          </a:p>
          <a:p>
            <a:pPr>
              <a:spcAft>
                <a:spcPts val="800"/>
              </a:spcAft>
              <a:defRPr sz="2100">
                <a:solidFill>
                  <a:srgbClr val="F5F5F5"/>
                </a:solidFill>
              </a:defRPr>
            </a:pPr>
            <a:r>
              <a:t>Sugerencia: al menos 5 porciones al día variando colores (rojo, morado, verde, naranja).</a:t>
            </a:r>
          </a:p>
          <a:p>
            <a:pPr>
              <a:spcAft>
                <a:spcPts val="800"/>
              </a:spcAft>
              <a:defRPr sz="2100">
                <a:solidFill>
                  <a:srgbClr val="F5F5F5"/>
                </a:solidFill>
              </a:defRPr>
            </a:pPr>
            <a:r>
              <a:t>Preferir frescas o al vapor para conservar vitaminas termo‑sensibles.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828800"/>
            <a:ext cx="4023360" cy="3291840"/>
          </a:xfrm>
          <a:prstGeom prst="rect">
            <a:avLst/>
          </a:prstGeom>
          <a:solidFill>
            <a:srgbClr val="5A6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F5F5F5"/>
                </a:solidFill>
              </a:rPr>
              <a:t>Imagen no disponible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914400" y="0"/>
            <a:ext cx="3200400" cy="6858000"/>
          </a:xfrm>
          <a:prstGeom prst="rtTriangl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10241280" y="-182880"/>
            <a:ext cx="3200400" cy="7223760"/>
          </a:xfrm>
          <a:prstGeom prst="rtTriangl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4000">
                <a:solidFill>
                  <a:srgbClr val="FF8C00"/>
                </a:solidFill>
              </a:rPr>
              <a:t>Cereales integrales y legumbres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2ECC71"/>
                </a:solidFill>
              </a:rPr>
              <a:t>Energía estable y saciedad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217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F5F5F5"/>
                </a:solidFill>
              </a:defRPr>
            </a:pPr>
            <a:r>
              <a:t>Avena, quinoa, lentejas y garbanzos aportan fibra que estabiliza la glucosa en sangre.</a:t>
            </a:r>
          </a:p>
          <a:p>
            <a:pPr>
              <a:spcAft>
                <a:spcPts val="800"/>
              </a:spcAft>
              <a:defRPr sz="2100">
                <a:solidFill>
                  <a:srgbClr val="F5F5F5"/>
                </a:solidFill>
              </a:defRPr>
            </a:pPr>
            <a:r>
              <a:t>Los picos glucémicos se asocian con cambios de humor; mantener energía constante favorece el equilibrio emocional.</a:t>
            </a:r>
          </a:p>
          <a:p>
            <a:pPr>
              <a:spcAft>
                <a:spcPts val="800"/>
              </a:spcAft>
              <a:defRPr sz="2100">
                <a:solidFill>
                  <a:srgbClr val="F5F5F5"/>
                </a:solidFill>
              </a:defRPr>
            </a:pPr>
            <a:r>
              <a:t>Sugerencia: incluir al menos una porción en cada comida principal (½ taza cocida).</a:t>
            </a:r>
          </a:p>
          <a:p>
            <a:pPr>
              <a:spcAft>
                <a:spcPts val="800"/>
              </a:spcAft>
              <a:defRPr sz="2100">
                <a:solidFill>
                  <a:srgbClr val="F5F5F5"/>
                </a:solidFill>
              </a:defRPr>
            </a:pPr>
            <a:r>
              <a:t>Combinar con proteínas magras para optimizar absorción y saciedad.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828800"/>
            <a:ext cx="4023360" cy="3291840"/>
          </a:xfrm>
          <a:prstGeom prst="rect">
            <a:avLst/>
          </a:prstGeom>
          <a:solidFill>
            <a:srgbClr val="5A6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F5F5F5"/>
                </a:solidFill>
              </a:rPr>
              <a:t>Imagen no disponible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914400" y="0"/>
            <a:ext cx="3200400" cy="6858000"/>
          </a:xfrm>
          <a:prstGeom prst="rtTriangl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10241280" y="-182880"/>
            <a:ext cx="3200400" cy="7223760"/>
          </a:xfrm>
          <a:prstGeom prst="rtTriangl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4000">
                <a:solidFill>
                  <a:srgbClr val="FF8C00"/>
                </a:solidFill>
              </a:rPr>
              <a:t>Resumen y recomendaciones finales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2ECC71"/>
                </a:solidFill>
              </a:rPr>
              <a:t>Implementación práctica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217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F5F5F5"/>
                </a:solidFill>
              </a:defRPr>
            </a:pPr>
            <a:r>
              <a:t>Combinar estos alimentos en un patrón alimentario equilibrado, sin obsesionarse con uno solo.</a:t>
            </a:r>
          </a:p>
          <a:p>
            <a:pPr>
              <a:spcAft>
                <a:spcPts val="800"/>
              </a:spcAft>
              <a:defRPr sz="2100">
                <a:solidFill>
                  <a:srgbClr val="F5F5F5"/>
                </a:solidFill>
              </a:defRPr>
            </a:pPr>
            <a:r>
              <a:t>La constancia es más importante que la perfección: pequeños cambios sostenibles generan mayor impacto.</a:t>
            </a:r>
          </a:p>
          <a:p>
            <a:pPr>
              <a:spcAft>
                <a:spcPts val="800"/>
              </a:spcAft>
              <a:defRPr sz="2100">
                <a:solidFill>
                  <a:srgbClr val="F5F5F5"/>
                </a:solidFill>
              </a:defRPr>
            </a:pPr>
            <a:r>
              <a:t>Considerar factores individuales: alergias, preferencias culturales y presupuesto disponible.</a:t>
            </a:r>
          </a:p>
          <a:p>
            <a:pPr>
              <a:spcAft>
                <a:spcPts val="800"/>
              </a:spcAft>
              <a:defRPr sz="2100">
                <a:solidFill>
                  <a:srgbClr val="F5F5F5"/>
                </a:solidFill>
              </a:defRPr>
            </a:pPr>
            <a:r>
              <a:t>Recordar que la alimentación es solo una parte: ejercicio, sueño y apoyo social también influyen en el bienestar.</a:t>
            </a:r>
          </a:p>
        </p:txBody>
      </p:sp>
      <p:pic>
        <p:nvPicPr>
          <p:cNvPr id="7" name="Picture 6" descr="Foods__28cropped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0"/>
            <a:ext cx="4023360" cy="43352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